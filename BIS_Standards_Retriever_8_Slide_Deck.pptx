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52644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37A"/>
                </a:solidFill>
                <a:latin typeface="Aptos"/>
              </a:rPr>
              <a:t>BIS standards are authoritative, but discovering the right IS code from dense PDFs is slow and error-prone.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63B4"/>
                </a:solidFill>
                <a:latin typeface="Aptos"/>
              </a:rPr>
              <a:t>Search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0007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Small manufacturers often know the product description, not the exact standard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73152" cy="1920240"/>
          </a:xfrm>
          <a:prstGeom prst="rect">
            <a:avLst/>
          </a:prstGeom>
          <a:solidFill>
            <a:srgbClr val="D0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993392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04652"/>
                </a:solidFill>
                <a:latin typeface="Aptos"/>
              </a:rPr>
              <a:t>Compliance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50007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Wrong or missed standards can delay certification, procurement, QA, and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73152" cy="1920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993392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Aptos"/>
              </a:rPr>
              <a:t>Hackathon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350007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Return the correct BIS standards quickly, reproducibly, and without hallucinated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2644"/>
                </a:solidFill>
                <a:latin typeface="Aptos"/>
              </a:rPr>
              <a:t>Our project converts a BIS PDF corpus into a fast standards lookup system for MSE-style natural language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37A"/>
                </a:solidFill>
                <a:latin typeface="Aptos"/>
              </a:rPr>
              <a:t>A deterministic hybrid retriever tuned for Indian Standards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0584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965960" cy="658368"/>
          </a:xfrm>
          <a:prstGeom prst="round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PDF Corpus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62072" y="1975104"/>
            <a:ext cx="429768" cy="0"/>
          </a:xfrm>
          <a:prstGeom prst="line">
            <a:avLst/>
          </a:prstGeom>
          <a:ln w="25400">
            <a:solidFill>
              <a:srgbClr val="58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1645920"/>
            <a:ext cx="1965960" cy="65836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27832" y="181051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Page Index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93792" y="1975104"/>
            <a:ext cx="429768" cy="0"/>
          </a:xfrm>
          <a:prstGeom prst="line">
            <a:avLst/>
          </a:prstGeom>
          <a:ln w="25400">
            <a:solidFill>
              <a:srgbClr val="58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1645920"/>
            <a:ext cx="1965960" cy="658368"/>
          </a:xfrm>
          <a:prstGeom prst="roundRect">
            <a:avLst/>
          </a:prstGeom>
          <a:solidFill>
            <a:srgbClr val="E88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59552" y="181051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Hybrid Retrieve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2" y="1975104"/>
            <a:ext cx="429768" cy="0"/>
          </a:xfrm>
          <a:prstGeom prst="line">
            <a:avLst/>
          </a:prstGeom>
          <a:ln w="25400">
            <a:solidFill>
              <a:srgbClr val="58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1645920"/>
            <a:ext cx="1965960" cy="658368"/>
          </a:xfrm>
          <a:prstGeom prst="roundRect">
            <a:avLst/>
          </a:prstGeom>
          <a:solidFill>
            <a:srgbClr val="D0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2" y="181051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Rerank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57232" y="1975104"/>
            <a:ext cx="429768" cy="0"/>
          </a:xfrm>
          <a:prstGeom prst="line">
            <a:avLst/>
          </a:prstGeom>
          <a:ln w="25400">
            <a:solidFill>
              <a:srgbClr val="58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49840" y="1645920"/>
            <a:ext cx="1965960" cy="658368"/>
          </a:xfrm>
          <a:prstGeom prst="roundRect">
            <a:avLst/>
          </a:prstGeom>
          <a:solidFill>
            <a:srgbClr val="239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22992" y="181051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Validated Top-K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8892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Extracts text and IS-code mentions from `dataset.pdf` using PyMuPDF.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Builds cached search structures for repeatable and fast inference.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Combines BM25 lexical ranking with fuzzy token-set similarity.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Adds query expansion, explicit standard hints, category boosts, and method-standard penalties.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743200"/>
            <a:ext cx="4389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2743200"/>
            <a:ext cx="73152" cy="2331720"/>
          </a:xfrm>
          <a:prstGeom prst="rect">
            <a:avLst/>
          </a:prstGeom>
          <a:solidFill>
            <a:srgbClr val="239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2907792"/>
            <a:ext cx="4059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925C"/>
                </a:solidFill>
                <a:latin typeface="Aptos"/>
              </a:rPr>
              <a:t>Delivered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264407"/>
            <a:ext cx="402336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Judge entry point: `inference.py`</a:t>
            </a:r>
            <a:br/>
            <a:r>
              <a:t>Submission: `data/submission.json`</a:t>
            </a:r>
            <a:br/>
            <a:r>
              <a:t>Demo: `streamlit_app.py`</a:t>
            </a:r>
            <a:br/>
            <a:r>
              <a:t>Evaluation: `eval_script.py`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8637A"/>
                </a:solidFill>
                <a:latin typeface="Aptos"/>
              </a:rPr>
              <a:t>Pipeline generated from the actual project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19556"/>
            <a:ext cx="1005840" cy="457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26" y="1065275"/>
            <a:ext cx="10835640" cy="5718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Chunking &amp; Retrieval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37A"/>
                </a:solidFill>
                <a:latin typeface="Aptos"/>
              </a:rPr>
              <a:t>Why the system stays fast while still finding exact IS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0584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2011680"/>
          </a:xfrm>
          <a:prstGeom prst="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73352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63B4"/>
                </a:solidFill>
                <a:latin typeface="Aptos"/>
              </a:rPr>
              <a:t>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30632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Page-level text extraction preserves local context around standard mentions and avoids over-fragmenting the PDF.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20116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2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Aptos"/>
              </a:rPr>
              <a:t>Candidate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29967"/>
            <a:ext cx="30632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BM25 ranks top candidate pages from expanded query tokens; the search explores up to 200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2011680"/>
          </a:xfrm>
          <a:prstGeom prst="rect">
            <a:avLst/>
          </a:prstGeom>
          <a:solidFill>
            <a:srgbClr val="E88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673352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8C36"/>
                </a:solidFill>
                <a:latin typeface="Aptos"/>
              </a:rPr>
              <a:t>Reranking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29967"/>
            <a:ext cx="30632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RapidFuzz similarity, rarity weighting, year weighting, explicit hints, and category-aware boosts refine the final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Standard normalization deduplicates variants such as spacing, parts, and years.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Validation checks returned standards against the source-derived index to avoid hallucinations.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Fallback ranking fills top-k only from standards seen in the PDF corpus.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37A"/>
                </a:solidFill>
                <a:latin typeface="Aptos"/>
              </a:rPr>
              <a:t>What reviewers can see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0584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1325880"/>
          </a:xfrm>
          <a:prstGeom prst="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2"/>
            <a:ext cx="4471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63B4"/>
                </a:solidFill>
                <a:latin typeface="Aptos"/>
              </a:rPr>
              <a:t>Interactive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9967"/>
            <a:ext cx="4434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Streamlit query tab accepts natural language product queries and returns ranked BIS standards with scores/latency.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73152" cy="1325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673352"/>
            <a:ext cx="4471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Aptos"/>
              </a:rPr>
              <a:t>Public Test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29967"/>
            <a:ext cx="4434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A second tab loads `data/submission.json`, compares results with expected standards, and marks hits.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2644"/>
                </a:solidFill>
                <a:latin typeface="Aptos"/>
              </a:rPr>
              <a:t>Example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33 Grade Ordinary Portland Cement -&gt; IS 269: 1989</a:t>
            </a:r>
          </a:p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Coarse and fine aggregates -&gt; IS 383: 1970</a:t>
            </a:r>
          </a:p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White Portland cement -&gt; IS 8042: 1989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2644"/>
                </a:solidFill>
                <a:latin typeface="Aptos"/>
              </a:rPr>
              <a:t>Reproducible 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`python inference.py`</a:t>
            </a:r>
          </a:p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`python eval_script.py --results data/submission.json`</a:t>
            </a:r>
          </a:p>
          <a:p>
            <a:pPr>
              <a:spcAft>
                <a:spcPts val="800"/>
              </a:spcAft>
              <a:defRPr sz="1400">
                <a:solidFill>
                  <a:srgbClr val="152644"/>
                </a:solidFill>
                <a:latin typeface="Aptos"/>
              </a:defRPr>
            </a:pPr>
            <a:r>
              <a:t>`streamlit run streamlit_app.py`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37A"/>
                </a:solidFill>
                <a:latin typeface="Aptos"/>
              </a:rPr>
              <a:t>Measured on the 10-query public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0584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" y="1856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925C"/>
                </a:solidFill>
                <a:latin typeface="Aptos"/>
              </a:rPr>
              <a:t>Hit Rate @3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13055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52644"/>
                </a:solidFill>
                <a:latin typeface="Aptos"/>
              </a:rPr>
              <a:t>100.00%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6243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37A"/>
                </a:solidFill>
                <a:latin typeface="Aptos"/>
              </a:rPr>
              <a:t>Target: &gt;80%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0016" y="1856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63B4"/>
                </a:solidFill>
                <a:latin typeface="Aptos"/>
              </a:rPr>
              <a:t>MRR 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13055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52644"/>
                </a:solidFill>
                <a:latin typeface="Aptos"/>
              </a:rPr>
              <a:t>0.8167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243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37A"/>
                </a:solidFill>
                <a:latin typeface="Aptos"/>
              </a:rPr>
              <a:t>Target: &gt;0.7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6" y="1856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36"/>
                </a:solidFill>
                <a:latin typeface="Aptos"/>
              </a:rPr>
              <a:t>Avg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13055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52644"/>
                </a:solidFill>
                <a:latin typeface="Aptos"/>
              </a:rPr>
              <a:t>0.03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6243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37A"/>
                </a:solidFill>
                <a:latin typeface="Aptos"/>
              </a:rPr>
              <a:t>Target: &lt;5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All 10 public queries have at least one expected standard in the top 3 results.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Most product-specific queries rank the target at position 1; harder cement variants still land within top 3.</a:t>
            </a:r>
          </a:p>
          <a:p>
            <a:pPr>
              <a:spcAft>
                <a:spcPts val="800"/>
              </a:spcAft>
              <a:defRPr sz="1500">
                <a:solidFill>
                  <a:srgbClr val="152644"/>
                </a:solidFill>
                <a:latin typeface="Aptos"/>
              </a:defRPr>
            </a:pPr>
            <a:r>
              <a:t>Cached indexing keeps inference lightweight and deterministic for judge 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2644"/>
                </a:solidFill>
                <a:latin typeface="Aptos"/>
              </a:rPr>
              <a:t>Impact on MSEs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37A"/>
                </a:solidFill>
                <a:latin typeface="Aptos"/>
              </a:rPr>
              <a:t>Turning dense standards documents into practical compliance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0584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2148840"/>
          </a:xfrm>
          <a:prstGeom prst="rect">
            <a:avLst/>
          </a:prstGeom>
          <a:solidFill>
            <a:srgbClr val="239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925C"/>
                </a:solidFill>
                <a:latin typeface="Aptos"/>
              </a:rPr>
              <a:t>Faster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21407"/>
            <a:ext cx="28803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Teams can move from product description to relevant IS code in milliseconds instead of manual PDF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73152" cy="2148840"/>
          </a:xfrm>
          <a:prstGeom prst="rect">
            <a:avLst/>
          </a:prstGeom>
          <a:solidFill>
            <a:srgbClr val="D0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764792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04652"/>
                </a:solidFill>
                <a:latin typeface="Aptos"/>
              </a:rPr>
              <a:t>Lower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21407"/>
            <a:ext cx="28803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Validated retrieval reduces missed standards and discourages unsupported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0020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73152" cy="2148840"/>
          </a:xfrm>
          <a:prstGeom prst="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7" y="1764792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63B4"/>
                </a:solidFill>
                <a:latin typeface="Aptos"/>
              </a:rPr>
              <a:t>Better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121407"/>
            <a:ext cx="28803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644"/>
                </a:solidFill>
                <a:latin typeface="Aptos"/>
              </a:rPr>
              <a:t>Useful for certification prep, procurement specs, QA checklists, and customer documentation.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52644"/>
                </a:solidFill>
                <a:latin typeface="Aptos"/>
              </a:rPr>
              <a:t>The system is especially useful for small teams that need reliable standards discovery without maintaining a full compliance research function.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8637A"/>
                </a:solidFill>
                <a:latin typeface="Aptos"/>
              </a:rPr>
              <a:t>BIS Standards Retriever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Team &amp;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E2F5"/>
                </a:solidFill>
                <a:latin typeface="Aptos"/>
              </a:rPr>
              <a:t>BIS Standards Retriever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057400"/>
            <a:ext cx="4663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057400"/>
            <a:ext cx="73152" cy="1920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2221992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897B"/>
                </a:solidFill>
                <a:latin typeface="Aptos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542032"/>
            <a:ext cx="4297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52644"/>
                </a:solidFill>
                <a:latin typeface="Aptos"/>
              </a:rPr>
              <a:t>Hiten Anand</a:t>
            </a:r>
            <a:br>
              <a:rPr sz="1600" dirty="0"/>
            </a:br>
            <a:r>
              <a:rPr sz="1600" dirty="0"/>
              <a:t>Manavi Bangani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10149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D2E2F5"/>
                </a:solidFill>
                <a:latin typeface="Aptos"/>
              </a:rPr>
              <a:t>BIS Standards Retriever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648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HITEN ANAND</cp:lastModifiedBy>
  <cp:revision>2</cp:revision>
  <dcterms:created xsi:type="dcterms:W3CDTF">2013-01-27T09:14:16Z</dcterms:created>
  <dcterms:modified xsi:type="dcterms:W3CDTF">2026-05-04T17:32:07Z</dcterms:modified>
  <cp:category/>
</cp:coreProperties>
</file>