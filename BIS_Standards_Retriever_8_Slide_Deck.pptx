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644"/>
                </a:solidFill>
                <a:latin typeface="Aptos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8637A"/>
                </a:solidFill>
                <a:latin typeface="Aptos"/>
              </a:rPr>
              <a:t>BIS standards are authoritative, but discovering the right IS code from dense PDFs is slow and error-prone.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375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73152" cy="1920240"/>
          </a:xfrm>
          <a:prstGeom prst="rect">
            <a:avLst/>
          </a:prstGeom>
          <a:solidFill>
            <a:srgbClr val="236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3008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63B4"/>
                </a:solidFill>
                <a:latin typeface="Aptos"/>
              </a:rPr>
              <a:t>Search Friction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350007"/>
            <a:ext cx="29718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Small manufacturers often know the product description, not the exact standard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375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828800"/>
            <a:ext cx="73152" cy="1920240"/>
          </a:xfrm>
          <a:prstGeom prst="rect">
            <a:avLst/>
          </a:prstGeom>
          <a:solidFill>
            <a:srgbClr val="D04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993392"/>
            <a:ext cx="3008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04652"/>
                </a:solidFill>
                <a:latin typeface="Aptos"/>
              </a:rPr>
              <a:t>Compliance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350007"/>
            <a:ext cx="29718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Wrong or missed standards can delay certification, procurement, QA, and documentation.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3375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73152" cy="19202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8" y="1993392"/>
            <a:ext cx="3008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97B"/>
                </a:solidFill>
                <a:latin typeface="Aptos"/>
              </a:rPr>
              <a:t>Hackathon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2350007"/>
            <a:ext cx="29718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Return the correct BIS standards quickly, reproducibly, and without hallucinated codes.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2644"/>
                </a:solidFill>
                <a:latin typeface="Aptos"/>
              </a:rPr>
              <a:t>Our project converts a BIS PDF corpus into a fast standards lookup system for MSE-style natural language queries.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A deterministic hybrid retriever tuned for Indian Standards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965960" cy="658368"/>
          </a:xfrm>
          <a:prstGeom prst="roundRect">
            <a:avLst/>
          </a:prstGeom>
          <a:solidFill>
            <a:srgbClr val="236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PDF Corpus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62072" y="1975104"/>
            <a:ext cx="429768" cy="0"/>
          </a:xfrm>
          <a:prstGeom prst="line">
            <a:avLst/>
          </a:prstGeom>
          <a:ln w="25400">
            <a:solidFill>
              <a:srgbClr val="586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154680" y="1645920"/>
            <a:ext cx="1965960" cy="658368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81051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Page Index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93792" y="1975104"/>
            <a:ext cx="429768" cy="0"/>
          </a:xfrm>
          <a:prstGeom prst="line">
            <a:avLst/>
          </a:prstGeom>
          <a:ln w="25400">
            <a:solidFill>
              <a:srgbClr val="586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0" y="1645920"/>
            <a:ext cx="1965960" cy="658368"/>
          </a:xfrm>
          <a:prstGeom prst="roundRect">
            <a:avLst/>
          </a:prstGeom>
          <a:solidFill>
            <a:srgbClr val="E88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181051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Hybrid Retrieve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25512" y="1975104"/>
            <a:ext cx="429768" cy="0"/>
          </a:xfrm>
          <a:prstGeom prst="line">
            <a:avLst/>
          </a:prstGeom>
          <a:ln w="25400">
            <a:solidFill>
              <a:srgbClr val="586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818120" y="1645920"/>
            <a:ext cx="1965960" cy="658368"/>
          </a:xfrm>
          <a:prstGeom prst="roundRect">
            <a:avLst/>
          </a:prstGeom>
          <a:solidFill>
            <a:srgbClr val="D04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91272" y="181051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Rerank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57232" y="1975104"/>
            <a:ext cx="429768" cy="0"/>
          </a:xfrm>
          <a:prstGeom prst="line">
            <a:avLst/>
          </a:prstGeom>
          <a:ln w="25400">
            <a:solidFill>
              <a:srgbClr val="586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40" y="1645920"/>
            <a:ext cx="1965960" cy="658368"/>
          </a:xfrm>
          <a:prstGeom prst="roundRect">
            <a:avLst/>
          </a:prstGeom>
          <a:solidFill>
            <a:srgbClr val="239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2992" y="1810512"/>
            <a:ext cx="18196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Validated Top-K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8892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Extracts text and IS-code mentions from `dataset.pdf` using PyMuPDF.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Builds cached search structures for repeatable and fast inference.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Combines BM25 lexical ranking with fuzzy token-set similarity.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Adds query expansion, explicit standard hints, category boosts, and method-standard penalties.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2743200"/>
            <a:ext cx="43891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2743200"/>
            <a:ext cx="73152" cy="2331720"/>
          </a:xfrm>
          <a:prstGeom prst="rect">
            <a:avLst/>
          </a:prstGeom>
          <a:solidFill>
            <a:srgbClr val="239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2907792"/>
            <a:ext cx="4059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925C"/>
                </a:solidFill>
                <a:latin typeface="Aptos"/>
              </a:rPr>
              <a:t>Delivered Artifacts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3264407"/>
            <a:ext cx="4023360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Judge entry point: `inference.py`</a:t>
            </a:r>
            <a:br/>
            <a:r>
              <a:t>Submission: `data/submission.json`</a:t>
            </a:r>
            <a:br/>
            <a:r>
              <a:t>Demo: `streamlit_app.py`</a:t>
            </a:r>
            <a:br/>
            <a:r>
              <a:t>Evaluation: `eval_script.py`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Pipeline generated from the actual project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10835640" cy="5718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Chunking &amp; Retrieval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Why the system stays fast while still finding exact IS codes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2011680"/>
          </a:xfrm>
          <a:prstGeom prst="rect">
            <a:avLst/>
          </a:prstGeom>
          <a:solidFill>
            <a:srgbClr val="236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3099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63B4"/>
                </a:solidFill>
                <a:latin typeface="Aptos"/>
              </a:rPr>
              <a:t>Chunking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29967"/>
            <a:ext cx="306324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Page-level text extraction preserves local context around standard mentions and avoids over-fragmenting the PDF.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73152" cy="20116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2"/>
            <a:ext cx="3099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97B"/>
                </a:solidFill>
                <a:latin typeface="Aptos"/>
              </a:rPr>
              <a:t>Candidate 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029967"/>
            <a:ext cx="306324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BM25 ranks top candidate pages from expanded query tokens; the search explores up to 200 pages.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08760"/>
            <a:ext cx="34290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08760"/>
            <a:ext cx="73152" cy="2011680"/>
          </a:xfrm>
          <a:prstGeom prst="rect">
            <a:avLst/>
          </a:prstGeom>
          <a:solidFill>
            <a:srgbClr val="E88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73352"/>
            <a:ext cx="3099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8C36"/>
                </a:solidFill>
                <a:latin typeface="Aptos"/>
              </a:rPr>
              <a:t>Reranking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029967"/>
            <a:ext cx="306324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RapidFuzz similarity, rarity weighting, year weighting, explicit hints, and category-aware boosts refine the final list.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10515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Standard normalization deduplicates variants such as spacing, parts, and years.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Validation checks returned standards against the source-derived index to avoid hallucinations.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Fallback ranking fills top-k only from standards seen in the PDF corpus.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Demo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What reviewers can see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4800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508760"/>
            <a:ext cx="73152" cy="1325880"/>
          </a:xfrm>
          <a:prstGeom prst="rect">
            <a:avLst/>
          </a:prstGeom>
          <a:solidFill>
            <a:srgbClr val="236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73352"/>
            <a:ext cx="4471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63B4"/>
                </a:solidFill>
                <a:latin typeface="Aptos"/>
              </a:rPr>
              <a:t>Interactive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029967"/>
            <a:ext cx="4434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Streamlit query tab accepts natural language product queries and returns ranked BIS standards with scores/latency.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08760"/>
            <a:ext cx="4800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508760"/>
            <a:ext cx="73152" cy="13258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1673352"/>
            <a:ext cx="4471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97B"/>
                </a:solidFill>
                <a:latin typeface="Aptos"/>
              </a:rPr>
              <a:t>Public Test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29967"/>
            <a:ext cx="4434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A second tab loads `data/submission.json`, compares results with expected standards, and marks hits.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2644"/>
                </a:solidFill>
                <a:latin typeface="Aptos"/>
              </a:rPr>
              <a:t>Example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33 Grade Ordinary Portland Cement -&gt; IS 269: 1989</a:t>
            </a:r>
          </a:p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Coarse and fine aggregates -&gt; IS 383: 1970</a:t>
            </a:r>
          </a:p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White Portland cement -&gt; IS 8042: 1989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2644"/>
                </a:solidFill>
                <a:latin typeface="Aptos"/>
              </a:rPr>
              <a:t>Reproducible Commands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03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`python inference.py`</a:t>
            </a:r>
          </a:p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`python eval_script.py --results data/submission.json`</a:t>
            </a:r>
          </a:p>
          <a:p>
            <a:pPr>
              <a:spcAft>
                <a:spcPts val="800"/>
              </a:spcAft>
              <a:defRPr sz="1400">
                <a:solidFill>
                  <a:srgbClr val="152644"/>
                </a:solidFill>
                <a:latin typeface="Aptos"/>
              </a:defRPr>
            </a:pPr>
            <a:r>
              <a:t>`streamlit run streamlit_app.py`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Measured on the 10-query public test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856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3925C"/>
                </a:solidFill>
                <a:latin typeface="Aptos"/>
              </a:rPr>
              <a:t>Hit Rate @3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130552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52644"/>
                </a:solidFill>
                <a:latin typeface="Aptos"/>
              </a:rPr>
              <a:t>100.00%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624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8637A"/>
                </a:solidFill>
                <a:latin typeface="Aptos"/>
              </a:rPr>
              <a:t>Target: &gt;80%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916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6" y="1856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363B4"/>
                </a:solidFill>
                <a:latin typeface="Aptos"/>
              </a:rPr>
              <a:t>MRR 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2130552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52644"/>
                </a:solidFill>
                <a:latin typeface="Aptos"/>
              </a:rPr>
              <a:t>0.8167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24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8637A"/>
                </a:solidFill>
                <a:latin typeface="Aptos"/>
              </a:rPr>
              <a:t>Target: &gt;0.7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1856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8C36"/>
                </a:solidFill>
                <a:latin typeface="Aptos"/>
              </a:rPr>
              <a:t>Avg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130552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52644"/>
                </a:solidFill>
                <a:latin typeface="Aptos"/>
              </a:rPr>
              <a:t>0.03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624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8637A"/>
                </a:solidFill>
                <a:latin typeface="Aptos"/>
              </a:rPr>
              <a:t>Target: &lt;5 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All 10 public queries have at least one expected standard in the top 3 results.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Most product-specific queries rank the target at position 1; harder cement variants still land within top 3.</a:t>
            </a:r>
          </a:p>
          <a:p>
            <a:pPr>
              <a:spcAft>
                <a:spcPts val="800"/>
              </a:spcAft>
              <a:defRPr sz="1500">
                <a:solidFill>
                  <a:srgbClr val="152644"/>
                </a:solidFill>
                <a:latin typeface="Aptos"/>
              </a:defRPr>
            </a:pPr>
            <a:r>
              <a:t>Cached indexing keeps inference lightweight and deterministic for judge evaluation.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52644"/>
                </a:solidFill>
                <a:latin typeface="Aptos"/>
              </a:rPr>
              <a:t>Impact on MSEs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637A"/>
                </a:solidFill>
                <a:latin typeface="Aptos"/>
              </a:rPr>
              <a:t>Turning dense standards documents into practical compliance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05840" cy="3657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32461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00200"/>
            <a:ext cx="73152" cy="2148840"/>
          </a:xfrm>
          <a:prstGeom prst="rect">
            <a:avLst/>
          </a:prstGeom>
          <a:solidFill>
            <a:srgbClr val="239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764792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925C"/>
                </a:solidFill>
                <a:latin typeface="Aptos"/>
              </a:rPr>
              <a:t>Faster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121407"/>
            <a:ext cx="28803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Teams can move from product description to relevant IS code in milliseconds instead of manual PDF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600200"/>
            <a:ext cx="73152" cy="2148840"/>
          </a:xfrm>
          <a:prstGeom prst="rect">
            <a:avLst/>
          </a:prstGeom>
          <a:solidFill>
            <a:srgbClr val="D04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1764792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04652"/>
                </a:solidFill>
                <a:latin typeface="Aptos"/>
              </a:rPr>
              <a:t>Lower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121407"/>
            <a:ext cx="28803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Validated retrieval reduces missed standards and discourages unsupported answers.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600200"/>
            <a:ext cx="324612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600200"/>
            <a:ext cx="73152" cy="2148840"/>
          </a:xfrm>
          <a:prstGeom prst="rect">
            <a:avLst/>
          </a:prstGeom>
          <a:solidFill>
            <a:srgbClr val="236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7" y="1764792"/>
            <a:ext cx="2916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363B4"/>
                </a:solidFill>
                <a:latin typeface="Aptos"/>
              </a:rPr>
              <a:t>Better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7" y="2121407"/>
            <a:ext cx="28803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Useful for certification prep, procurement specs, QA checklists, and customer documentation.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720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152644"/>
                </a:solidFill>
                <a:latin typeface="Aptos"/>
              </a:rPr>
              <a:t>The system is especially useful for small teams that need reliable standards discovery without maintaining a full compliance research function.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8637A"/>
                </a:solidFill>
                <a:latin typeface="Aptos"/>
              </a:rPr>
              <a:t>BIS Standards Retriever | 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6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7863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Team &amp; 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2E2F5"/>
                </a:solidFill>
                <a:latin typeface="Aptos"/>
              </a:rPr>
              <a:t>BIS Standards Retriever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2057400"/>
            <a:ext cx="46634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2057400"/>
            <a:ext cx="73152" cy="19202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221992"/>
            <a:ext cx="4334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97B"/>
                </a:solidFill>
                <a:latin typeface="Aptos"/>
              </a:rPr>
              <a:t>Team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2578607"/>
            <a:ext cx="429768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Hiten Anand</a:t>
            </a:r>
            <a:br/>
            <a:r>
              <a:t>Manavi Bangani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057400"/>
            <a:ext cx="46634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2057400"/>
            <a:ext cx="73152" cy="1920240"/>
          </a:xfrm>
          <a:prstGeom prst="rect">
            <a:avLst/>
          </a:prstGeom>
          <a:solidFill>
            <a:srgbClr val="E88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47688" y="2221992"/>
            <a:ext cx="4334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8C36"/>
                </a:solidFill>
                <a:latin typeface="Aptos"/>
              </a:rPr>
              <a:t>Acknowledgements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578607"/>
            <a:ext cx="429768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52644"/>
                </a:solidFill>
                <a:latin typeface="Aptos"/>
              </a:rPr>
              <a:t>BIS Hackathon organizers</a:t>
            </a:r>
            <a:br/>
            <a:r>
              <a:t>Public test set and evaluation script</a:t>
            </a:r>
            <a:br/>
            <a:r>
              <a:t>Open-source Python ecosystem: PyMuPDF, rank-bm25, RapidFuzz, Streamlit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892040"/>
            <a:ext cx="10149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64739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D2E2F5"/>
                </a:solidFill>
                <a:latin typeface="Aptos"/>
              </a:rPr>
              <a:t>BIS Standards Retriever |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